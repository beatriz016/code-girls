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5"/>
  </p:notesMasterIdLst>
  <p:sldIdLst>
    <p:sldId id="276" r:id="rId5"/>
    <p:sldId id="305" r:id="rId6"/>
    <p:sldId id="265" r:id="rId7"/>
    <p:sldId id="266" r:id="rId8"/>
    <p:sldId id="306" r:id="rId9"/>
    <p:sldId id="307" r:id="rId10"/>
    <p:sldId id="308" r:id="rId11"/>
    <p:sldId id="309" r:id="rId12"/>
    <p:sldId id="310" r:id="rId13"/>
    <p:sldId id="311" r:id="rId1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20" y="78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19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236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098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068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092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18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cs.aws.amazon.com/pt_br/lambda/latest/dg/welcome.html" TargetMode="External"/><Relationship Id="rId4" Type="http://schemas.openxmlformats.org/officeDocument/2006/relationships/hyperlink" Target="https://aws.amazon.com/pt/getting-started/hands-on/run-serverless-co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3: Criando os nossos recursos (Hands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Criando o nosso </a:t>
            </a:r>
            <a:r>
              <a:rPr lang="pt-BR" sz="20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EC2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Criando o nosso </a:t>
            </a:r>
            <a:r>
              <a:rPr lang="pt-BR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S3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Criando o nosso </a:t>
            </a:r>
            <a:r>
              <a:rPr lang="pt-BR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Lambda </a:t>
            </a:r>
            <a:r>
              <a:rPr lang="pt-BR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pt-BR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Amazon Lambda </a:t>
            </a:r>
            <a:r>
              <a:rPr lang="pt-PT" dirty="0" err="1"/>
              <a:t>Function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Criando os nossos recursos</a:t>
            </a:r>
            <a:br>
              <a:rPr lang="pt-BR" sz="4000" b="1" dirty="0">
                <a:solidFill>
                  <a:srgbClr val="EA4E60"/>
                </a:solidFill>
                <a:latin typeface="Century Gothic"/>
              </a:rPr>
            </a:b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Hands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On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4AF8C42-8550-3B90-5702-496E7272ACD8}"/>
              </a:ext>
            </a:extLst>
          </p:cNvPr>
          <p:cNvSpPr txBox="1"/>
          <p:nvPr/>
        </p:nvSpPr>
        <p:spPr>
          <a:xfrm>
            <a:off x="561575" y="1338836"/>
            <a:ext cx="6761700" cy="3804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Antes de entender o que é o Lambda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precisamos entender o que esta por trás desta tecnologia.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falar sobre SERVERLESS.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é um novo paradigma onde os desenvolvedores não precisam gerenciar servidores.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Este conceito nos ajuda a se preocupar somente com nosso código, não precisando gerenciar instâncias.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4AF8C42-8550-3B90-5702-496E7272ACD8}"/>
              </a:ext>
            </a:extLst>
          </p:cNvPr>
          <p:cNvSpPr txBox="1"/>
          <p:nvPr/>
        </p:nvSpPr>
        <p:spPr>
          <a:xfrm>
            <a:off x="561575" y="1338836"/>
            <a:ext cx="6761700" cy="199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começou com Lambda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mas hoje temos diversas tecnologias utilizando este conceito.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Isto não significa que não há um servidor, mas significa que não gerenciamos os servidores.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3D17008-5AFE-B85F-E05A-7ED79FA82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3057"/>
              </p:ext>
            </p:extLst>
          </p:nvPr>
        </p:nvGraphicFramePr>
        <p:xfrm>
          <a:off x="260827" y="3001254"/>
          <a:ext cx="719089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966">
                  <a:extLst>
                    <a:ext uri="{9D8B030D-6E8A-4147-A177-3AD203B41FA5}">
                      <a16:colId xmlns:a16="http://schemas.microsoft.com/office/drawing/2014/main" val="2134492444"/>
                    </a:ext>
                  </a:extLst>
                </a:gridCol>
                <a:gridCol w="2396966">
                  <a:extLst>
                    <a:ext uri="{9D8B030D-6E8A-4147-A177-3AD203B41FA5}">
                      <a16:colId xmlns:a16="http://schemas.microsoft.com/office/drawing/2014/main" val="2325450716"/>
                    </a:ext>
                  </a:extLst>
                </a:gridCol>
                <a:gridCol w="2396966">
                  <a:extLst>
                    <a:ext uri="{9D8B030D-6E8A-4147-A177-3AD203B41FA5}">
                      <a16:colId xmlns:a16="http://schemas.microsoft.com/office/drawing/2014/main" val="2524469460"/>
                    </a:ext>
                  </a:extLst>
                </a:gridCol>
              </a:tblGrid>
              <a:tr h="279461">
                <a:tc gridSpan="3">
                  <a:txBody>
                    <a:bodyPr/>
                    <a:lstStyle/>
                    <a:p>
                      <a:pPr algn="ctr"/>
                      <a:r>
                        <a:rPr lang="pt-PT" dirty="0"/>
                        <a:t>Serviços AWS que são </a:t>
                      </a:r>
                      <a:r>
                        <a:rPr lang="pt-PT" dirty="0" err="1"/>
                        <a:t>Serverless</a:t>
                      </a:r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30234"/>
                  </a:ext>
                </a:extLst>
              </a:tr>
              <a:tr h="27946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Lambda </a:t>
                      </a:r>
                      <a:r>
                        <a:rPr lang="pt-PT" dirty="0" err="1"/>
                        <a:t>Function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Dynamo</a:t>
                      </a:r>
                      <a:r>
                        <a:rPr lang="pt-PT" dirty="0"/>
                        <a:t> DB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AWS </a:t>
                      </a:r>
                      <a:r>
                        <a:rPr lang="pt-PT" dirty="0" err="1"/>
                        <a:t>Cognito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445606"/>
                  </a:ext>
                </a:extLst>
              </a:tr>
              <a:tr h="27946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AWS API Gateway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Amazon S3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Amason</a:t>
                      </a:r>
                      <a:r>
                        <a:rPr lang="pt-PT" dirty="0"/>
                        <a:t> SNS e SQS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79981"/>
                  </a:ext>
                </a:extLst>
              </a:tr>
              <a:tr h="27946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AWS </a:t>
                      </a:r>
                      <a:r>
                        <a:rPr lang="pt-PT" dirty="0" err="1"/>
                        <a:t>Kinesis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AWS Aurora </a:t>
                      </a:r>
                      <a:r>
                        <a:rPr lang="pt-PT" dirty="0" err="1"/>
                        <a:t>Serverless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93642"/>
                  </a:ext>
                </a:extLst>
              </a:tr>
              <a:tr h="482357">
                <a:tc gridSpan="3">
                  <a:txBody>
                    <a:bodyPr/>
                    <a:lstStyle/>
                    <a:p>
                      <a:pPr algn="ctr"/>
                      <a:r>
                        <a:rPr lang="pt-PT" dirty="0"/>
                        <a:t>N</a:t>
                      </a:r>
                      <a:r>
                        <a:rPr lang="pt-BR" dirty="0" err="1"/>
                        <a:t>ão</a:t>
                      </a:r>
                      <a:r>
                        <a:rPr lang="pt-BR" dirty="0"/>
                        <a:t> gerenciamos os servidores destes recursos.</a:t>
                      </a:r>
                      <a:br>
                        <a:rPr lang="pt-BR" dirty="0"/>
                      </a:br>
                      <a:r>
                        <a:rPr lang="pt-BR" dirty="0"/>
                        <a:t>São recursos gerenciados </a:t>
                      </a:r>
                      <a:r>
                        <a:rPr lang="pt-BR"/>
                        <a:t>pela AWS</a:t>
                      </a:r>
                      <a:endParaRPr lang="pt-P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25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40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4AF8C42-8550-3B90-5702-496E7272ACD8}"/>
              </a:ext>
            </a:extLst>
          </p:cNvPr>
          <p:cNvSpPr txBox="1"/>
          <p:nvPr/>
        </p:nvSpPr>
        <p:spPr>
          <a:xfrm>
            <a:off x="561575" y="1338836"/>
            <a:ext cx="6761700" cy="199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começou com Lambda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mas hoje temos diversas tecnologias utilizando este conceito.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Isto não significa que não há um servidor, mas significa que não gerenciamos os servidores.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771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75A9591-E51B-17D3-A7D8-B0BED56B1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5" y="1359569"/>
            <a:ext cx="5856204" cy="388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54;p2">
            <a:extLst>
              <a:ext uri="{FF2B5EF4-FFF2-40B4-BE49-F238E27FC236}">
                <a16:creationId xmlns:a16="http://schemas.microsoft.com/office/drawing/2014/main" id="{C19AA97F-99C1-9039-CEC3-9CB59099CF6D}"/>
              </a:ext>
            </a:extLst>
          </p:cNvPr>
          <p:cNvSpPr txBox="1"/>
          <p:nvPr/>
        </p:nvSpPr>
        <p:spPr>
          <a:xfrm>
            <a:off x="3393174" y="3882539"/>
            <a:ext cx="4058551" cy="123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Podemos desenvolver uma solução completa sem gerenciar nenhum servidor, apenas utilizando recursos </a:t>
            </a:r>
            <a:r>
              <a:rPr lang="pt-PT" sz="18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endParaRPr sz="18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620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35FF352C-D9D7-F27B-61A3-6665972B0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75" y="1266345"/>
            <a:ext cx="5039437" cy="3865123"/>
          </a:xfrm>
          <a:prstGeom prst="rect">
            <a:avLst/>
          </a:prstGeom>
        </p:spPr>
      </p:pic>
      <p:sp>
        <p:nvSpPr>
          <p:cNvPr id="7" name="Google Shape;154;p2">
            <a:extLst>
              <a:ext uri="{FF2B5EF4-FFF2-40B4-BE49-F238E27FC236}">
                <a16:creationId xmlns:a16="http://schemas.microsoft.com/office/drawing/2014/main" id="{EE46B079-05AF-4784-5066-ED5962B52EBE}"/>
              </a:ext>
            </a:extLst>
          </p:cNvPr>
          <p:cNvSpPr txBox="1"/>
          <p:nvPr/>
        </p:nvSpPr>
        <p:spPr>
          <a:xfrm>
            <a:off x="5895474" y="1715609"/>
            <a:ext cx="2409007" cy="69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Diferença entre </a:t>
            </a:r>
            <a:br>
              <a:rPr lang="pt-PT" sz="18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8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EC2 X Lambda </a:t>
            </a:r>
            <a:r>
              <a:rPr lang="pt-PT" sz="18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800" b="1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154;p2">
            <a:extLst>
              <a:ext uri="{FF2B5EF4-FFF2-40B4-BE49-F238E27FC236}">
                <a16:creationId xmlns:a16="http://schemas.microsoft.com/office/drawing/2014/main" id="{BBDCF317-E84C-6B02-67DD-FDC0704DF211}"/>
              </a:ext>
            </a:extLst>
          </p:cNvPr>
          <p:cNvSpPr txBox="1"/>
          <p:nvPr/>
        </p:nvSpPr>
        <p:spPr>
          <a:xfrm>
            <a:off x="2652166" y="1499651"/>
            <a:ext cx="858253" cy="69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36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37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A156733-232E-B4FA-494A-385521A20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268082"/>
              </p:ext>
            </p:extLst>
          </p:nvPr>
        </p:nvGraphicFramePr>
        <p:xfrm>
          <a:off x="308953" y="1748790"/>
          <a:ext cx="71908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966">
                  <a:extLst>
                    <a:ext uri="{9D8B030D-6E8A-4147-A177-3AD203B41FA5}">
                      <a16:colId xmlns:a16="http://schemas.microsoft.com/office/drawing/2014/main" val="2134492444"/>
                    </a:ext>
                  </a:extLst>
                </a:gridCol>
                <a:gridCol w="2396966">
                  <a:extLst>
                    <a:ext uri="{9D8B030D-6E8A-4147-A177-3AD203B41FA5}">
                      <a16:colId xmlns:a16="http://schemas.microsoft.com/office/drawing/2014/main" val="2325450716"/>
                    </a:ext>
                  </a:extLst>
                </a:gridCol>
                <a:gridCol w="2396966">
                  <a:extLst>
                    <a:ext uri="{9D8B030D-6E8A-4147-A177-3AD203B41FA5}">
                      <a16:colId xmlns:a16="http://schemas.microsoft.com/office/drawing/2014/main" val="2524469460"/>
                    </a:ext>
                  </a:extLst>
                </a:gridCol>
              </a:tblGrid>
              <a:tr h="279461">
                <a:tc gridSpan="3">
                  <a:txBody>
                    <a:bodyPr/>
                    <a:lstStyle/>
                    <a:p>
                      <a:pPr algn="ctr"/>
                      <a:r>
                        <a:rPr lang="pt-PT" dirty="0"/>
                        <a:t>Benefícios AWS Lambda</a:t>
                      </a:r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30234"/>
                  </a:ext>
                </a:extLst>
              </a:tr>
              <a:tr h="27946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Cobrado por requisição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Free </a:t>
                      </a:r>
                      <a:r>
                        <a:rPr lang="pt-PT" dirty="0" err="1"/>
                        <a:t>Tier</a:t>
                      </a:r>
                      <a:r>
                        <a:rPr lang="pt-PT" dirty="0"/>
                        <a:t> 1.000.000 requisições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Integração com vários serviços AWS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445606"/>
                  </a:ext>
                </a:extLst>
              </a:tr>
              <a:tr h="27946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Integração com várias</a:t>
                      </a:r>
                    </a:p>
                    <a:p>
                      <a:pPr algn="ctr"/>
                      <a:r>
                        <a:rPr lang="pt-PT" dirty="0"/>
                        <a:t>Linguagens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$0.20 por 1 milhão de </a:t>
                      </a:r>
                      <a:br>
                        <a:rPr lang="pt-PT" dirty="0"/>
                      </a:br>
                      <a:r>
                        <a:rPr lang="pt-PT" dirty="0"/>
                        <a:t>requisições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Depois $0.02 por requisição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79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87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Amazon Lambda Function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Google Shape;154;p2">
            <a:extLst>
              <a:ext uri="{FF2B5EF4-FFF2-40B4-BE49-F238E27FC236}">
                <a16:creationId xmlns:a16="http://schemas.microsoft.com/office/drawing/2014/main" id="{875C070B-E4BE-0F04-6FDB-53D98C40D05B}"/>
              </a:ext>
            </a:extLst>
          </p:cNvPr>
          <p:cNvSpPr txBox="1"/>
          <p:nvPr/>
        </p:nvSpPr>
        <p:spPr>
          <a:xfrm>
            <a:off x="561575" y="1338836"/>
            <a:ext cx="6761700" cy="199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Hands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um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hello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word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– Nosso primeiro Lambda</a:t>
            </a: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Google Shape;154;p2">
            <a:extLst>
              <a:ext uri="{FF2B5EF4-FFF2-40B4-BE49-F238E27FC236}">
                <a16:creationId xmlns:a16="http://schemas.microsoft.com/office/drawing/2014/main" id="{B3FFB997-E6C8-69D1-A8B4-E2CDC57BC0F2}"/>
              </a:ext>
            </a:extLst>
          </p:cNvPr>
          <p:cNvSpPr txBox="1"/>
          <p:nvPr/>
        </p:nvSpPr>
        <p:spPr>
          <a:xfrm>
            <a:off x="417196" y="3668901"/>
            <a:ext cx="6212204" cy="147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b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https://aws.amazon.com/pt/getting-started/hands-on/run-serverless-code/</a:t>
            </a:r>
            <a:endParaRPr lang="pt-PT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https://docs.aws.amazon.com/pt_br/lambda/latest/dg/welcome.html</a:t>
            </a:r>
            <a:b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2659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a74590350b4299ceac4023a73874433f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84CB50E-67A0-42F7-A2A2-B8740BA07A07}"/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453</Words>
  <Application>Microsoft Office PowerPoint</Application>
  <PresentationFormat>Apresentação na tela (16:9)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Wingdings</vt:lpstr>
      <vt:lpstr>Calibri Light</vt:lpstr>
      <vt:lpstr>Calibri</vt:lpstr>
      <vt:lpstr>Century Gothic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113</cp:revision>
  <dcterms:modified xsi:type="dcterms:W3CDTF">2024-04-09T16:57:18Z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